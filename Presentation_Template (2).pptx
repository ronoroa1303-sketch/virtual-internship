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  <p:embeddedFont>
      <p:font typeface="Roboto Slab" pitchFamily="2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408"/>
  </p:normalViewPr>
  <p:slideViewPr>
    <p:cSldViewPr snapToGrid="0">
      <p:cViewPr varScale="1">
        <p:scale>
          <a:sx n="89" d="100"/>
          <a:sy n="89" d="100"/>
        </p:scale>
        <p:origin x="128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544290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the System Works</a:t>
            </a:r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291415"/>
            <a:ext cx="8368200" cy="4108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Inputs</a:t>
            </a:r>
            <a:r>
              <a:rPr lang="en-GB" sz="1600" dirty="0"/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Demographics:</a:t>
            </a:r>
            <a:r>
              <a:rPr lang="en-US" dirty="0"/>
              <a:t> Age, Location (High risk identified in LA), Employment Status.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Financials</a:t>
            </a:r>
            <a:r>
              <a:rPr lang="en-US" dirty="0"/>
              <a:t>: Monthly Income, Loan Balance, Debt-to-income(DTI)Ratio.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Behavioral</a:t>
            </a:r>
            <a:r>
              <a:rPr lang="en-US" dirty="0"/>
              <a:t>: Credit Utilization(Threshold:75%), repayment history(Months 1-6)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Decision Logic</a:t>
            </a:r>
            <a:r>
              <a:rPr lang="en-GB" dirty="0"/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Predictive Modeling:</a:t>
            </a:r>
            <a:r>
              <a:rPr lang="en-US" dirty="0"/>
              <a:t> Uses Logistic Regression to calculate a "Probability of Default."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Business Rules:</a:t>
            </a:r>
            <a:r>
              <a:rPr lang="en-US" dirty="0"/>
              <a:t> Hard triggers for DTI &gt; 40% or Utilization &gt; 75%.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Actions</a:t>
            </a:r>
            <a:r>
              <a:rPr lang="en-GB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Low Risk:</a:t>
            </a:r>
            <a:r>
              <a:rPr lang="en-US" dirty="0"/>
              <a:t> Automated "Gentle Reminders" via App/SMS.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Medium Risk:</a:t>
            </a:r>
            <a:r>
              <a:rPr lang="en-US" dirty="0"/>
              <a:t> </a:t>
            </a:r>
            <a:r>
              <a:rPr lang="en-US" dirty="0" err="1"/>
              <a:t>Personalised</a:t>
            </a:r>
            <a:r>
              <a:rPr lang="en-US" dirty="0"/>
              <a:t> "Financial Health" nudges and education.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High Risk:</a:t>
            </a:r>
            <a:r>
              <a:rPr lang="en-US" dirty="0"/>
              <a:t> Automated offer for hardship plans or escalation to a human agent.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Learning</a:t>
            </a:r>
            <a:r>
              <a:rPr lang="en-GB" sz="1600" dirty="0"/>
              <a:t>: </a:t>
            </a:r>
            <a:r>
              <a:rPr lang="en-US" sz="1400" dirty="0"/>
              <a:t>The system uses a feedback loop where actual repayment outcomes are used to retrain the model monthly, ensuring it adapts to changing economic conditions.</a:t>
            </a:r>
            <a:endParaRPr lang="en-GB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Role of Agentic AI</a:t>
            </a:r>
            <a:endParaRPr dirty="0"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Fully Automated Decisions: </a:t>
            </a:r>
          </a:p>
          <a:p>
            <a:pPr lvl="1"/>
            <a:r>
              <a:rPr lang="en-US" dirty="0"/>
              <a:t>Scanning the entire 500+ customer database daily.</a:t>
            </a:r>
          </a:p>
          <a:p>
            <a:pPr lvl="1"/>
            <a:r>
              <a:rPr lang="en-US" dirty="0"/>
              <a:t>Sending standardized payment reminders for low-risk accounts.</a:t>
            </a:r>
          </a:p>
          <a:p>
            <a:pPr lvl="1"/>
            <a:r>
              <a:rPr lang="en-US" dirty="0"/>
              <a:t>Flagging "Segment Drift" (e.g., if Student delinquency suddenly spikes).</a:t>
            </a:r>
          </a:p>
          <a:p>
            <a:r>
              <a:rPr lang="en-US" dirty="0"/>
              <a:t>Human-Reviewed Actions: </a:t>
            </a:r>
          </a:p>
          <a:p>
            <a:pPr lvl="1"/>
            <a:r>
              <a:rPr lang="en-US" dirty="0"/>
              <a:t>Approval of custom debt restructuring plans for high-value Business accounts.</a:t>
            </a:r>
          </a:p>
          <a:p>
            <a:pPr lvl="1"/>
            <a:r>
              <a:rPr lang="en-US" dirty="0"/>
              <a:t>Review of "Edge Cases" where the model confidence is low (e.g., 50-60% probability).</a:t>
            </a:r>
          </a:p>
          <a:p>
            <a:pPr lvl="1"/>
            <a:r>
              <a:rPr lang="en-US" dirty="0"/>
              <a:t>Managing complex customer emotional inquiries that require empathy and nuance.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394933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Fairness Checks</a:t>
            </a:r>
            <a:r>
              <a:rPr lang="en-US" sz="1600" dirty="0"/>
              <a:t>: Monthly audits to ensure the model isn't disproportionately flagging customers based on Age or Location. We use "Equality of Opportunity" metrics to maintain unbiased lending.</a:t>
            </a:r>
          </a:p>
          <a:p>
            <a:endParaRPr lang="en-US" sz="1600" dirty="0"/>
          </a:p>
          <a:p>
            <a:r>
              <a:rPr lang="en-US" sz="1600" b="1" dirty="0"/>
              <a:t>Explainability</a:t>
            </a:r>
            <a:r>
              <a:rPr lang="en-US" sz="1600" dirty="0"/>
              <a:t>: Every prediction is paired with a "Reason Code" (e.g., SHAP values), so the Collections team can explain why an intervention was triggered.</a:t>
            </a:r>
          </a:p>
          <a:p>
            <a:pPr marL="114300" indent="0">
              <a:buNone/>
            </a:pPr>
            <a:endParaRPr lang="en-US" sz="1600" dirty="0"/>
          </a:p>
          <a:p>
            <a:r>
              <a:rPr lang="en-US" sz="1600" b="1" dirty="0"/>
              <a:t>Regulatory Compliance</a:t>
            </a:r>
            <a:r>
              <a:rPr lang="en-US" sz="1600" dirty="0"/>
              <a:t>: The system is built to comply with ECOA (Equal Credit Opportunity Act) and GDPR, ensuring transparency in automated decision-making.</a:t>
            </a:r>
          </a:p>
          <a:p>
            <a:endParaRPr lang="en-US" sz="1600" dirty="0"/>
          </a:p>
          <a:p>
            <a:r>
              <a:rPr lang="en-US" sz="1600" b="1" dirty="0"/>
              <a:t>Human-in-the-loop (HITL): </a:t>
            </a:r>
            <a:r>
              <a:rPr lang="en-US" sz="1600" dirty="0"/>
              <a:t>A final human override is required for any action that significantly impacts a customer's credit access or limit.</a:t>
            </a: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Expected Business Impact</a:t>
            </a:r>
            <a:endParaRPr dirty="0"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/>
              <a:t>Quantitative Outcomes:</a:t>
            </a:r>
          </a:p>
          <a:p>
            <a:pPr lvl="1"/>
            <a:r>
              <a:rPr lang="en-US" dirty="0"/>
              <a:t>15% Reduction in 30-day delinquency rates.</a:t>
            </a:r>
          </a:p>
          <a:p>
            <a:pPr lvl="1"/>
            <a:r>
              <a:rPr lang="en-US" dirty="0"/>
              <a:t>Cost Savings: Reduced manual labor for low-risk collections.</a:t>
            </a:r>
          </a:p>
          <a:p>
            <a:pPr lvl="1"/>
            <a:r>
              <a:rPr lang="en-US" dirty="0"/>
              <a:t>Lower Provisions: Preventing NPAs reduces the capital </a:t>
            </a:r>
            <a:r>
              <a:rPr lang="en-US" dirty="0" err="1"/>
              <a:t>Geldium</a:t>
            </a:r>
            <a:r>
              <a:rPr lang="en-US" dirty="0"/>
              <a:t> must hold in reserve.</a:t>
            </a:r>
          </a:p>
          <a:p>
            <a:r>
              <a:rPr lang="en-US" sz="1600" b="1" dirty="0"/>
              <a:t>Qualitative Outcomes:</a:t>
            </a:r>
          </a:p>
          <a:p>
            <a:pPr lvl="1"/>
            <a:r>
              <a:rPr lang="en-US" dirty="0"/>
              <a:t>Improved Customer Trust: Positioning </a:t>
            </a:r>
            <a:r>
              <a:rPr lang="en-US" dirty="0" err="1"/>
              <a:t>Geldium</a:t>
            </a:r>
            <a:r>
              <a:rPr lang="en-US" dirty="0"/>
              <a:t> as a "Financial Partner" who helps before a crisis.</a:t>
            </a:r>
          </a:p>
          <a:p>
            <a:pPr lvl="1"/>
            <a:r>
              <a:rPr lang="en-US" dirty="0"/>
              <a:t>Enhanced Fairness: Standardized, objective risk assessment reduces human bias in collections.</a:t>
            </a:r>
          </a:p>
          <a:p>
            <a:pPr lvl="1"/>
            <a:r>
              <a:rPr lang="en-US" dirty="0"/>
              <a:t>Scalability: The system can handle 50,000 customers as easily as it handles 500.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683</Words>
  <Application>Microsoft Office PowerPoint</Application>
  <PresentationFormat>On-screen Show (16:9)</PresentationFormat>
  <Paragraphs>55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Roboto Slab</vt:lpstr>
      <vt:lpstr>Arial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Harsh Nautiyal</cp:lastModifiedBy>
  <cp:revision>3</cp:revision>
  <dcterms:modified xsi:type="dcterms:W3CDTF">2026-01-07T04:09:49Z</dcterms:modified>
</cp:coreProperties>
</file>